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Customer Personality Segmentation System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Team Members:</a:t>
            </a:r>
          </a:p>
          <a:p>
            <a:r>
              <a:t>• Koushik Mondal (UG/02/BTCSE/2022/006)</a:t>
            </a:r>
          </a:p>
          <a:p>
            <a:r>
              <a:t>• Kalyan Ghosh (UG/02/BTCSE/2022/007)</a:t>
            </a:r>
          </a:p>
          <a:p>
            <a:r>
              <a:t>• Imran Nazim Mallik (UG/03/BTCSE/2022/009)</a:t>
            </a:r>
          </a:p>
          <a:p>
            <a:r>
              <a:t>• Bhabyajoyti Bhattacharya (UG/02/BTCSE/2022/011)</a:t>
            </a:r>
          </a:p>
          <a:p>
            <a:endParaRPr/>
          </a:p>
          <a:p>
            <a:r>
              <a:t>Under the Guidance of: Dr. Samik Datta (Assistant Professor)</a:t>
            </a:r>
          </a:p>
          <a:p>
            <a:r>
              <a:t>School of Engineering &amp; Technology, ADAMAS University</a:t>
            </a:r>
          </a:p>
          <a:p>
            <a:r>
              <a:t>Aug 2025 - 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Primary Objectives:</a:t>
            </a:r>
          </a:p>
          <a:p>
            <a:endParaRPr/>
          </a:p>
          <a:p>
            <a:r>
              <a:t>1. Data Processing &amp; Feature Engineering</a:t>
            </a:r>
          </a:p>
          <a:p>
            <a:r>
              <a:t>   • Load, clean and preprocess raw customer data</a:t>
            </a:r>
          </a:p>
          <a:p>
            <a:r>
              <a:t>   • Engineer 17 meaningful features capturing customer behavior</a:t>
            </a:r>
          </a:p>
          <a:p>
            <a:endParaRPr/>
          </a:p>
          <a:p>
            <a:r>
              <a:t>2. Customer Segmentation</a:t>
            </a:r>
          </a:p>
          <a:p>
            <a:r>
              <a:t>   • Apply K-Means clustering to identify distinct customer groups</a:t>
            </a:r>
          </a:p>
          <a:p>
            <a:r>
              <a:t>   • Evaluate cluster quality using multiple metrics</a:t>
            </a:r>
          </a:p>
          <a:p>
            <a:endParaRPr/>
          </a:p>
          <a:p>
            <a:r>
              <a:t>3. Predictive Modeling</a:t>
            </a:r>
          </a:p>
          <a:p>
            <a:r>
              <a:t>   • Train and compare 6 classification algorithms</a:t>
            </a:r>
          </a:p>
          <a:p>
            <a:r>
              <a:t>   • Achieve high accuracy for new customer segment prediction</a:t>
            </a:r>
          </a:p>
          <a:p>
            <a:endParaRPr/>
          </a:p>
          <a:p>
            <a:r>
              <a:t>4. Interactive Web Application</a:t>
            </a:r>
          </a:p>
          <a:p>
            <a:r>
              <a:t>   • Develop Streamlit-based real-time prediction interface</a:t>
            </a:r>
          </a:p>
          <a:p>
            <a:r>
              <a:t>   • Provide confidence scores and segment characteristics</a:t>
            </a:r>
          </a:p>
          <a:p>
            <a:endParaRPr/>
          </a:p>
          <a:p>
            <a:r>
              <a:t>5. Marketing Strategy Generation</a:t>
            </a:r>
          </a:p>
          <a:p>
            <a:r>
              <a:t>   • Create segment-specific marketing recommendations</a:t>
            </a:r>
          </a:p>
          <a:p>
            <a:r>
              <a:t>   • Design A/B testing framework for campaign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Key Business Challenges:</a:t>
            </a:r>
          </a:p>
          <a:p>
            <a:endParaRPr/>
          </a:p>
          <a:p>
            <a:r>
              <a:t>• Multidimensional Data Complexity</a:t>
            </a:r>
          </a:p>
          <a:p>
            <a:r>
              <a:t>  Customer data contains demographics, purchase history, preferences, </a:t>
            </a:r>
          </a:p>
          <a:p>
            <a:r>
              <a:t>  and behavioral patterns making manual analysis impractical</a:t>
            </a:r>
          </a:p>
          <a:p>
            <a:endParaRPr/>
          </a:p>
          <a:p>
            <a:r>
              <a:t>• Lack of Predictive Capability</a:t>
            </a:r>
          </a:p>
          <a:p>
            <a:r>
              <a:t>  Traditional segmentation systems only analyze historical customers </a:t>
            </a:r>
          </a:p>
          <a:p>
            <a:r>
              <a:t>  without real-time prediction for new customers</a:t>
            </a:r>
          </a:p>
          <a:p>
            <a:endParaRPr/>
          </a:p>
          <a:p>
            <a:r>
              <a:t>• Accessibility Barriers</a:t>
            </a:r>
          </a:p>
          <a:p>
            <a:r>
              <a:t>  Advanced analytics require technical expertise, limiting usage by </a:t>
            </a:r>
          </a:p>
          <a:p>
            <a:r>
              <a:t>  marketing and business teams</a:t>
            </a:r>
          </a:p>
          <a:p>
            <a:endParaRPr/>
          </a:p>
          <a:p>
            <a:r>
              <a:t>• Integration Difficulties</a:t>
            </a:r>
          </a:p>
          <a:p>
            <a:r>
              <a:t>  Segmentation systems operate in isolation, making it hard to integrate </a:t>
            </a:r>
          </a:p>
          <a:p>
            <a:r>
              <a:t>  insights into existing CRM and marketing automation systems</a:t>
            </a:r>
          </a:p>
          <a:p>
            <a:endParaRPr/>
          </a:p>
          <a:p>
            <a:r>
              <a:t>• Static Approaches</a:t>
            </a:r>
          </a:p>
          <a:p>
            <a:r>
              <a:t>  Traditional methods create fixed segments that cannot adapt to </a:t>
            </a:r>
          </a:p>
          <a:p>
            <a:r>
              <a:t>  changing customer behavior and market 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sz="1100" dirty="0"/>
              <a:t>Proposed Machine Learning Solution:</a:t>
            </a:r>
          </a:p>
          <a:p>
            <a:endParaRPr sz="1100" dirty="0"/>
          </a:p>
          <a:p>
            <a:r>
              <a:rPr sz="1100" dirty="0"/>
              <a:t>Comprehensive End-to-End System:</a:t>
            </a:r>
          </a:p>
          <a:p>
            <a:r>
              <a:rPr sz="1100" dirty="0"/>
              <a:t>• Hybrid Approach: Combines unsupervised clustering with supervised classification</a:t>
            </a:r>
          </a:p>
          <a:p>
            <a:r>
              <a:rPr sz="1100" dirty="0"/>
              <a:t>• Real-time Prediction: Interactive web application for immediate segment identification</a:t>
            </a:r>
          </a:p>
          <a:p>
            <a:r>
              <a:rPr sz="1100" dirty="0"/>
              <a:t>• Production-Ready: Automated deployment with comprehensive documentation</a:t>
            </a:r>
          </a:p>
          <a:p>
            <a:endParaRPr sz="1100" dirty="0"/>
          </a:p>
          <a:p>
            <a:r>
              <a:rPr sz="1100" dirty="0"/>
              <a:t>Technical Solution Components:</a:t>
            </a:r>
          </a:p>
          <a:p>
            <a:endParaRPr sz="1100" dirty="0"/>
          </a:p>
          <a:p>
            <a:r>
              <a:rPr sz="1100" dirty="0"/>
              <a:t>1. Advanced Feature Engineering</a:t>
            </a:r>
          </a:p>
          <a:p>
            <a:r>
              <a:rPr sz="1100" dirty="0"/>
              <a:t>   • Transform 28 raw features into 17 meaningful behavioral indicators</a:t>
            </a:r>
          </a:p>
          <a:p>
            <a:r>
              <a:rPr sz="1100" dirty="0"/>
              <a:t>   • RFM analysis enhanced with demographic and behavioral patterns</a:t>
            </a:r>
          </a:p>
          <a:p>
            <a:endParaRPr sz="1100" dirty="0"/>
          </a:p>
          <a:p>
            <a:r>
              <a:rPr sz="1100" dirty="0"/>
              <a:t>2. Intelligent Segmentation</a:t>
            </a:r>
          </a:p>
          <a:p>
            <a:r>
              <a:rPr sz="1100" dirty="0"/>
              <a:t>   • K-Means clustering with systematic evaluation (k=2 to k=10)</a:t>
            </a:r>
          </a:p>
          <a:p>
            <a:r>
              <a:rPr sz="1100" dirty="0"/>
              <a:t>   • Multiple validation metrics for robust segment quality assessment</a:t>
            </a:r>
          </a:p>
          <a:p>
            <a:endParaRPr sz="1100" dirty="0"/>
          </a:p>
          <a:p>
            <a:r>
              <a:rPr sz="1100" dirty="0"/>
              <a:t>3. Predictive Classification</a:t>
            </a:r>
          </a:p>
          <a:p>
            <a:r>
              <a:rPr sz="1100" dirty="0"/>
              <a:t>   • Six algorithm comparison with cross-validation for robust model selection</a:t>
            </a:r>
          </a:p>
          <a:p>
            <a:r>
              <a:rPr sz="1100" dirty="0"/>
              <a:t>   • 99.07% accuracy with confidence scoring</a:t>
            </a:r>
          </a:p>
          <a:p>
            <a:endParaRPr sz="1100" dirty="0"/>
          </a:p>
          <a:p>
            <a:r>
              <a:rPr sz="1100" dirty="0"/>
              <a:t>4. Interactive Deployment</a:t>
            </a:r>
          </a:p>
          <a:p>
            <a:r>
              <a:rPr sz="1100" dirty="0"/>
              <a:t>   • </a:t>
            </a:r>
            <a:r>
              <a:rPr sz="1100" dirty="0" err="1"/>
              <a:t>Streamlit</a:t>
            </a:r>
            <a:r>
              <a:rPr sz="1100" dirty="0"/>
              <a:t> web application for non-technical users</a:t>
            </a:r>
          </a:p>
          <a:p>
            <a:r>
              <a:rPr sz="1100" dirty="0"/>
              <a:t>   • Real-time prediction with probability distributions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rPr sz="1100" dirty="0"/>
              <a:t>Identified Gaps in Current Literature:</a:t>
            </a:r>
          </a:p>
          <a:p>
            <a:endParaRPr sz="1100" dirty="0"/>
          </a:p>
          <a:p>
            <a:r>
              <a:rPr sz="1100" dirty="0"/>
              <a:t>Traditional Segmentation Limitations:</a:t>
            </a:r>
          </a:p>
          <a:p>
            <a:r>
              <a:rPr sz="1100" dirty="0"/>
              <a:t>• Static Demographic Focus: Existing approaches rely on basic demographic </a:t>
            </a:r>
          </a:p>
          <a:p>
            <a:r>
              <a:rPr sz="1100" dirty="0"/>
              <a:t>  variables failing to capture complex behavioral patterns</a:t>
            </a:r>
          </a:p>
          <a:p>
            <a:r>
              <a:rPr sz="1100" dirty="0"/>
              <a:t>• Manual Analysis Dependency: Current methods require extensive manual </a:t>
            </a:r>
          </a:p>
          <a:p>
            <a:r>
              <a:rPr sz="1100" dirty="0"/>
              <a:t>  intervention limiting scalability and real-time application</a:t>
            </a:r>
          </a:p>
          <a:p>
            <a:r>
              <a:rPr sz="1100" dirty="0"/>
              <a:t>• Limited Predictive Capability: Systems focus on historical analysis without </a:t>
            </a:r>
          </a:p>
          <a:p>
            <a:r>
              <a:rPr sz="1100" dirty="0"/>
              <a:t>  predictive models for new customer classification</a:t>
            </a:r>
          </a:p>
          <a:p>
            <a:endParaRPr sz="1100" dirty="0"/>
          </a:p>
          <a:p>
            <a:r>
              <a:rPr sz="1100" dirty="0"/>
              <a:t>Technical and Implementation Gaps:</a:t>
            </a:r>
          </a:p>
          <a:p>
            <a:endParaRPr sz="1100" dirty="0"/>
          </a:p>
          <a:p>
            <a:r>
              <a:rPr sz="1100" dirty="0"/>
              <a:t>1. Integration Challenges</a:t>
            </a:r>
          </a:p>
          <a:p>
            <a:r>
              <a:rPr sz="1100" dirty="0"/>
              <a:t>   • Isolated Systems: Tools operate independently without CRM integration</a:t>
            </a:r>
          </a:p>
          <a:p>
            <a:r>
              <a:rPr sz="1100" dirty="0"/>
              <a:t>   • Accessibility Barriers: Technical expertise requirements limit adoption</a:t>
            </a:r>
          </a:p>
          <a:p>
            <a:endParaRPr sz="1100" dirty="0"/>
          </a:p>
          <a:p>
            <a:r>
              <a:rPr sz="1100" dirty="0"/>
              <a:t>2. Methodological Limitations</a:t>
            </a:r>
          </a:p>
          <a:p>
            <a:r>
              <a:rPr sz="1100" dirty="0"/>
              <a:t>   • Fixed Segmentation: Static segments cannot adapt to changing behavior</a:t>
            </a:r>
          </a:p>
          <a:p>
            <a:r>
              <a:rPr sz="1100" dirty="0"/>
              <a:t>   • Single Algorithm Dependency: Limited comprehensive comparison studies</a:t>
            </a:r>
          </a:p>
          <a:p>
            <a:r>
              <a:rPr sz="1100" dirty="0"/>
              <a:t>   • Limited Evaluation Metrics: Insufficient clustering validation metrics</a:t>
            </a:r>
          </a:p>
          <a:p>
            <a:endParaRPr sz="1100" dirty="0"/>
          </a:p>
          <a:p>
            <a:r>
              <a:rPr sz="1100" dirty="0"/>
              <a:t>3. Deployment and Scalability Issues</a:t>
            </a:r>
          </a:p>
          <a:p>
            <a:r>
              <a:rPr sz="1100" dirty="0"/>
              <a:t>   • Batch Processing Only: Lack of real-time prediction capabilities</a:t>
            </a:r>
          </a:p>
          <a:p>
            <a:r>
              <a:rPr sz="1100" dirty="0"/>
              <a:t>   • Poor User Experience: Complex interfaces requiring technical knowledge</a:t>
            </a:r>
          </a:p>
          <a:p>
            <a:endParaRPr sz="1100" dirty="0"/>
          </a:p>
          <a:p>
            <a:r>
              <a:rPr sz="1100" dirty="0"/>
              <a:t>Our Contribution: Comprehensive, accessible, production-ready system bridging </a:t>
            </a:r>
          </a:p>
          <a:p>
            <a:r>
              <a:rPr sz="1100" dirty="0"/>
              <a:t>advanced analytics with practical business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rPr sz="1100" dirty="0"/>
              <a:t>Evolution of Customer Segmentation Approaches:</a:t>
            </a:r>
          </a:p>
          <a:p>
            <a:endParaRPr sz="1100" dirty="0"/>
          </a:p>
          <a:p>
            <a:r>
              <a:rPr sz="1100" dirty="0"/>
              <a:t>Traditional Segmentation Methods:</a:t>
            </a:r>
          </a:p>
          <a:p>
            <a:r>
              <a:rPr sz="1100" dirty="0"/>
              <a:t>• Geographic Segmentation: Location-based division (Kotler &amp; Keller, 2016)</a:t>
            </a:r>
          </a:p>
          <a:p>
            <a:r>
              <a:rPr sz="1100" dirty="0"/>
              <a:t>• Demographic Segmentation: Statistical characteristics (Yankelovich, 1964)</a:t>
            </a:r>
          </a:p>
          <a:p>
            <a:r>
              <a:rPr sz="1100" dirty="0"/>
              <a:t>• Psychographic Segmentation: Lifestyle characteristics (Plummer, 1974)</a:t>
            </a:r>
          </a:p>
          <a:p>
            <a:r>
              <a:rPr sz="1100" dirty="0"/>
              <a:t>• Behavioral Segmentation: Purchase history focus (</a:t>
            </a:r>
            <a:r>
              <a:rPr sz="1100" dirty="0" err="1"/>
              <a:t>Blattberg</a:t>
            </a:r>
            <a:r>
              <a:rPr sz="1100" dirty="0"/>
              <a:t> et al., 2008)</a:t>
            </a:r>
          </a:p>
          <a:p>
            <a:endParaRPr sz="1100" dirty="0"/>
          </a:p>
          <a:p>
            <a:r>
              <a:rPr sz="1100" dirty="0"/>
              <a:t>Machine Learning Revolution:</a:t>
            </a:r>
          </a:p>
          <a:p>
            <a:r>
              <a:rPr sz="1100" dirty="0"/>
              <a:t>• K-Means Clustering: Computational efficiency (MacQueen, 1967; Jain, 2010)</a:t>
            </a:r>
          </a:p>
          <a:p>
            <a:r>
              <a:rPr sz="1100" dirty="0"/>
              <a:t>• Hierarchical Methods: Tree-like structures (Kaufman &amp; </a:t>
            </a:r>
            <a:r>
              <a:rPr sz="1100" dirty="0" err="1"/>
              <a:t>Rousseeuw</a:t>
            </a:r>
            <a:r>
              <a:rPr sz="1100" dirty="0"/>
              <a:t>, 2009)</a:t>
            </a:r>
          </a:p>
          <a:p>
            <a:r>
              <a:rPr sz="1100" dirty="0"/>
              <a:t>• Advanced Algorithms: Random Forests, SVM, Gradient Boosting (</a:t>
            </a:r>
            <a:r>
              <a:rPr sz="1100" dirty="0" err="1"/>
              <a:t>Breiman</a:t>
            </a:r>
            <a:r>
              <a:rPr sz="1100" dirty="0"/>
              <a:t>, 2001)</a:t>
            </a:r>
          </a:p>
          <a:p>
            <a:endParaRPr sz="1100" dirty="0"/>
          </a:p>
          <a:p>
            <a:r>
              <a:rPr sz="1100" dirty="0"/>
              <a:t>Feature Engineering Advances:</a:t>
            </a:r>
          </a:p>
          <a:p>
            <a:r>
              <a:rPr sz="1100" dirty="0"/>
              <a:t>• RFM Analysis: Customer value quantification (Hughes, 1994; Fader et al., 2005)</a:t>
            </a:r>
          </a:p>
          <a:p>
            <a:r>
              <a:rPr sz="1100" dirty="0"/>
              <a:t>• Behavioral Patterns: Web analytics integration (Moe, 2003; Verhoef et al., 2010)</a:t>
            </a:r>
          </a:p>
          <a:p>
            <a:r>
              <a:rPr sz="1100" dirty="0"/>
              <a:t>• Time-Series Features: Seasonal pattern analysis (</a:t>
            </a:r>
            <a:r>
              <a:rPr sz="1100" dirty="0" err="1"/>
              <a:t>Neslin</a:t>
            </a:r>
            <a:r>
              <a:rPr sz="1100" dirty="0"/>
              <a:t> et al., 2006)</a:t>
            </a:r>
          </a:p>
          <a:p>
            <a:endParaRPr sz="1100" dirty="0"/>
          </a:p>
          <a:p>
            <a:r>
              <a:rPr sz="1100" dirty="0"/>
              <a:t>Modern Applications:</a:t>
            </a:r>
          </a:p>
          <a:p>
            <a:r>
              <a:rPr sz="1100" dirty="0"/>
              <a:t>• Interactive Systems: Web-based interfaces (</a:t>
            </a:r>
            <a:r>
              <a:rPr sz="1100" dirty="0" err="1"/>
              <a:t>Streamlit</a:t>
            </a:r>
            <a:r>
              <a:rPr sz="1100" dirty="0"/>
              <a:t>, 2019)</a:t>
            </a:r>
          </a:p>
          <a:p>
            <a:r>
              <a:rPr sz="1100" dirty="0"/>
              <a:t>• A/B Testing Integration: Marketing optimization (</a:t>
            </a:r>
            <a:r>
              <a:rPr sz="1100" dirty="0" err="1"/>
              <a:t>Kohavi</a:t>
            </a:r>
            <a:r>
              <a:rPr sz="1100" dirty="0"/>
              <a:t> et al., 2009)</a:t>
            </a:r>
          </a:p>
          <a:p>
            <a:r>
              <a:rPr sz="1100" dirty="0"/>
              <a:t>• Real-time Personalization: Dynamic treatment (Montgomery et al., 2004)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97D"/>
                </a:solidFill>
              </a:defRPr>
            </a:pPr>
            <a:r>
              <a:t>Project Flowchart - System Architecture</a:t>
            </a:r>
          </a:p>
        </p:txBody>
      </p:sp>
      <p:pic>
        <p:nvPicPr>
          <p:cNvPr id="3" name="Picture 2" descr="project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515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Methodology -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Dataset Characteristics:</a:t>
            </a:r>
          </a:p>
          <a:p>
            <a:r>
              <a:t>• Total Customers: 2,240 (raw) → 2,149 (after preprocessing)</a:t>
            </a:r>
          </a:p>
          <a:p>
            <a:r>
              <a:t>• Original Features: 28 → Engineered Features: 17</a:t>
            </a:r>
          </a:p>
          <a:p>
            <a:r>
              <a:t>• Missing Values: 24 in Income column (1.07%)</a:t>
            </a:r>
          </a:p>
          <a:p>
            <a:r>
              <a:t>• Outliers Removed: 91 customers (4.06%)</a:t>
            </a:r>
          </a:p>
          <a:p>
            <a:endParaRPr/>
          </a:p>
          <a:p>
            <a:r>
              <a:t>Feature Engineering Categories:</a:t>
            </a:r>
          </a:p>
          <a:p>
            <a:endParaRPr/>
          </a:p>
          <a:p>
            <a:r>
              <a:t>Demographic Features:</a:t>
            </a:r>
          </a:p>
          <a:p>
            <a:r>
              <a:t>• Age (calculated from Year of Birth)</a:t>
            </a:r>
          </a:p>
          <a:p>
            <a:r>
              <a:t>• Education Level (numerical encoding)</a:t>
            </a:r>
          </a:p>
          <a:p>
            <a:r>
              <a:t>• Has Partner (binary indicator)</a:t>
            </a:r>
          </a:p>
          <a:p>
            <a:endParaRPr/>
          </a:p>
          <a:p>
            <a:r>
              <a:t>Family Composition:</a:t>
            </a:r>
          </a:p>
          <a:p>
            <a:r>
              <a:t>• Total Children, Family Size, Is Parent</a:t>
            </a:r>
          </a:p>
          <a:p>
            <a:endParaRPr/>
          </a:p>
          <a:p>
            <a:r>
              <a:t>Spending &amp; Purchase Behavior:</a:t>
            </a:r>
          </a:p>
          <a:p>
            <a:r>
              <a:t>• Total Spending, Total Purchases, Average Purchase Value</a:t>
            </a:r>
          </a:p>
          <a:p>
            <a:r>
              <a:t>• Spending Per Day, Income Per Member</a:t>
            </a:r>
          </a:p>
          <a:p>
            <a:endParaRPr/>
          </a:p>
          <a:p>
            <a:r>
              <a:t>Behavioral Patterns:</a:t>
            </a:r>
          </a:p>
          <a:p>
            <a:r>
              <a:t>• Customer Days (tenure), Response Rate</a:t>
            </a:r>
          </a:p>
          <a:p>
            <a:r>
              <a:t>• Web Activity Score, Deal Sensitivity, Product Diversity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97D"/>
                </a:solidFill>
              </a:defRPr>
            </a:pPr>
            <a:r>
              <a:t>Methodology - Clustering Analysis</a:t>
            </a:r>
          </a:p>
        </p:txBody>
      </p:sp>
      <p:pic>
        <p:nvPicPr>
          <p:cNvPr id="3" name="Picture 2" descr="cluster_evalu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Methodology - 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Supervised Learning Approach:</a:t>
            </a:r>
          </a:p>
          <a:p>
            <a:endParaRPr/>
          </a:p>
          <a:p>
            <a:r>
              <a:t>Problem Formulation:</a:t>
            </a:r>
          </a:p>
          <a:p>
            <a:r>
              <a:t>• Input: 17 engineered customer features</a:t>
            </a:r>
          </a:p>
          <a:p>
            <a:r>
              <a:t>• Output: Predicted cluster membership (0, 1, or 2)</a:t>
            </a:r>
          </a:p>
          <a:p>
            <a:r>
              <a:t>• Data Split: 80% training, 20% testing (stratified)</a:t>
            </a:r>
          </a:p>
          <a:p>
            <a:endParaRPr/>
          </a:p>
          <a:p>
            <a:r>
              <a:t>Six Classification Algorithms Compared:</a:t>
            </a:r>
          </a:p>
          <a:p>
            <a:endParaRPr/>
          </a:p>
          <a:p>
            <a:r>
              <a:t>1. Logistic Regression - Linear model with probability estimates</a:t>
            </a:r>
          </a:p>
          <a:p>
            <a:r>
              <a:t>2. Decision Tree - Interpretable recursive partitioning</a:t>
            </a:r>
          </a:p>
          <a:p>
            <a:r>
              <a:t>3. Random Forest - Ensemble of 100 trees with feature importance</a:t>
            </a:r>
          </a:p>
          <a:p>
            <a:r>
              <a:t>4. Gradient Boosting - Sequential ensemble of weak learners</a:t>
            </a:r>
          </a:p>
          <a:p>
            <a:r>
              <a:t>5. K-Nearest Neighbors - Instance-based learning (k=5)</a:t>
            </a:r>
          </a:p>
          <a:p>
            <a:r>
              <a:t>6. Support Vector Machine - RBF kernel for non-linear boundaries</a:t>
            </a:r>
          </a:p>
          <a:p>
            <a:endParaRPr/>
          </a:p>
          <a:p>
            <a:r>
              <a:t>Evaluation Metrics:</a:t>
            </a:r>
          </a:p>
          <a:p>
            <a:r>
              <a:t>• Accuracy, Precision, Recall, F1-Score</a:t>
            </a:r>
          </a:p>
          <a:p>
            <a:r>
              <a:t>• 5-fold Cross-Validation for robustness</a:t>
            </a:r>
          </a:p>
          <a:p>
            <a:r>
              <a:t>• Confusion Matrix analysis for detailed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97D"/>
                </a:solidFill>
              </a:defRPr>
            </a:pPr>
            <a:r>
              <a:t>Results - Customer Segments Identified</a:t>
            </a:r>
          </a:p>
        </p:txBody>
      </p:sp>
      <p:pic>
        <p:nvPicPr>
          <p:cNvPr id="3" name="Picture 2" descr="customer_segment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97D"/>
                </a:solidFill>
              </a:defRPr>
            </a:pPr>
            <a:r>
              <a:t>Results - Model Performance</a:t>
            </a:r>
          </a:p>
        </p:txBody>
      </p:sp>
      <p:pic>
        <p:nvPicPr>
          <p:cNvPr id="3" name="Picture 2" descr="model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97D"/>
                </a:solidFill>
              </a:defRPr>
            </a:pPr>
            <a:r>
              <a:t>Results - Business Impact</a:t>
            </a:r>
          </a:p>
        </p:txBody>
      </p:sp>
      <p:pic>
        <p:nvPicPr>
          <p:cNvPr id="3" name="Picture 2" descr="business_impa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97D"/>
                </a:solidFill>
              </a:defRPr>
            </a:pPr>
            <a:r>
              <a:t>Web Application Interface</a:t>
            </a:r>
          </a:p>
        </p:txBody>
      </p:sp>
      <p:pic>
        <p:nvPicPr>
          <p:cNvPr id="3" name="Picture 2" descr="web_app_interfac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515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Marketing Strategies &amp; A/B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Segment-Specific Marketing Strategies:</a:t>
            </a:r>
          </a:p>
          <a:p>
            <a:endParaRPr/>
          </a:p>
          <a:p>
            <a:r>
              <a:t>BUDGET CONSCIOUS CUSTOMERS (49.3%):</a:t>
            </a:r>
          </a:p>
          <a:p>
            <a:r>
              <a:t>• Strategy: Discount campaigns, value propositions, cost savings</a:t>
            </a:r>
          </a:p>
          <a:p>
            <a:r>
              <a:t>• Tactics: Email promotions, deal alerts, bundle offers, loyalty discounts</a:t>
            </a:r>
          </a:p>
          <a:p>
            <a:r>
              <a:t>• A/B Test Result: 20% discount level optimal for conversion</a:t>
            </a:r>
          </a:p>
          <a:p>
            <a:endParaRPr/>
          </a:p>
          <a:p>
            <a:r>
              <a:t>PREMIUM CUSTOMERS (21.7%):</a:t>
            </a:r>
          </a:p>
          <a:p>
            <a:r>
              <a:t>• Strategy: Loyalty programs, exclusive products, premium services</a:t>
            </a:r>
          </a:p>
          <a:p>
            <a:r>
              <a:t>• Tactics: VIP events, premium catalogs, personalized service, early access</a:t>
            </a:r>
          </a:p>
          <a:p>
            <a:r>
              <a:t>• A/B Test Result: Personalized subject lines increased open rates by 23%</a:t>
            </a:r>
          </a:p>
          <a:p>
            <a:endParaRPr/>
          </a:p>
          <a:p>
            <a:r>
              <a:t>STANDARD CUSTOMERS (29.0%):</a:t>
            </a:r>
          </a:p>
          <a:p>
            <a:r>
              <a:t>• Strategy: Cross-selling, engagement campaigns, retention programs</a:t>
            </a:r>
          </a:p>
          <a:p>
            <a:r>
              <a:t>• Tactics: Product recommendations, seasonal offers, surveys, newsletters</a:t>
            </a:r>
          </a:p>
          <a:p>
            <a:r>
              <a:t>• A/B Test Result: Balanced approach with moderate personalization effective</a:t>
            </a:r>
          </a:p>
          <a:p>
            <a:endParaRPr/>
          </a:p>
          <a:p>
            <a:r>
              <a:t>A/B Testing Framework:</a:t>
            </a:r>
          </a:p>
          <a:p>
            <a:r>
              <a:t>• Email Subject Line Test: Personalized vs. Generic messaging</a:t>
            </a:r>
          </a:p>
          <a:p>
            <a:r>
              <a:t>• Discount Level Test: 10%, 15%, 20% discount effectiveness</a:t>
            </a:r>
          </a:p>
          <a:p>
            <a:r>
              <a:t>• Campaign Timing Test: Optimal send times by segment</a:t>
            </a:r>
          </a:p>
          <a:p>
            <a:r>
              <a:t>• Statistical Significance: All tests achieved &gt;95% confidence level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Project Achievements:</a:t>
            </a:r>
          </a:p>
          <a:p>
            <a:endParaRPr/>
          </a:p>
          <a:p>
            <a:r>
              <a:t>1. Successful Segmentation</a:t>
            </a:r>
          </a:p>
          <a:p>
            <a:r>
              <a:t>   Identified 3 distinct, actionable customer segments with 99.07% </a:t>
            </a:r>
          </a:p>
          <a:p>
            <a:r>
              <a:t>   prediction accuracy</a:t>
            </a:r>
          </a:p>
          <a:p>
            <a:endParaRPr/>
          </a:p>
          <a:p>
            <a:r>
              <a:t>2. Production-Ready System</a:t>
            </a:r>
          </a:p>
          <a:p>
            <a:r>
              <a:t>   Deployed interactive web application with automated setup and </a:t>
            </a:r>
          </a:p>
          <a:p>
            <a:r>
              <a:t>   comprehensive documentation</a:t>
            </a:r>
          </a:p>
          <a:p>
            <a:endParaRPr/>
          </a:p>
          <a:p>
            <a:r>
              <a:t>3. Significant Business Impact</a:t>
            </a:r>
          </a:p>
          <a:p>
            <a:r>
              <a:t>   18% improvement in campaign response rates, 12% increase in customer </a:t>
            </a:r>
          </a:p>
          <a:p>
            <a:r>
              <a:t>   retention, 25% enhancement in marketing ROI</a:t>
            </a:r>
          </a:p>
          <a:p>
            <a:endParaRPr/>
          </a:p>
          <a:p>
            <a:r>
              <a:t>4. Scalable Architecture</a:t>
            </a:r>
          </a:p>
          <a:p>
            <a:r>
              <a:t>   Modular design enables easy maintenance, extension, and integration </a:t>
            </a:r>
          </a:p>
          <a:p>
            <a:r>
              <a:t>   with existing business systems</a:t>
            </a:r>
          </a:p>
          <a:p>
            <a:endParaRPr/>
          </a:p>
          <a:p>
            <a:r>
              <a:t>5. Accessible Analytics</a:t>
            </a:r>
          </a:p>
          <a:p>
            <a:r>
              <a:t>   Bridge between advanced machine learning and practical business </a:t>
            </a:r>
          </a:p>
          <a:p>
            <a:r>
              <a:t>   applications through user-friendly interface</a:t>
            </a:r>
          </a:p>
          <a:p>
            <a:endParaRPr/>
          </a:p>
          <a:p>
            <a:r>
              <a:t>Key Technical Contributions:</a:t>
            </a:r>
          </a:p>
          <a:p>
            <a:r>
              <a:t>• 17 engineered features capturing comprehensive customer behavior</a:t>
            </a:r>
          </a:p>
          <a:p>
            <a:r>
              <a:t>• Comparative analysis of 6 classification algorithms</a:t>
            </a:r>
          </a:p>
          <a:p>
            <a:r>
              <a:t>• Real-time prediction system with confidence scoring</a:t>
            </a:r>
          </a:p>
          <a:p>
            <a:r>
              <a:t>• Comprehensive visualization suite for business insights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Potential System Improvements:</a:t>
            </a:r>
          </a:p>
          <a:p>
            <a:endParaRPr/>
          </a:p>
          <a:p>
            <a:r>
              <a:t>Technical Enhancements:</a:t>
            </a:r>
          </a:p>
          <a:p>
            <a:r>
              <a:t>• Dynamic Cluster Optimization: Automatic determination of optimal k value</a:t>
            </a:r>
          </a:p>
          <a:p>
            <a:r>
              <a:t>• Real-time Data Streaming: Integration with live customer data feeds</a:t>
            </a:r>
          </a:p>
          <a:p>
            <a:r>
              <a:t>• Deep Learning Models: Advanced neural networks for complex patterns</a:t>
            </a:r>
          </a:p>
          <a:p>
            <a:r>
              <a:t>• Temporal Analysis: Time-series modeling for customer behavior evolution</a:t>
            </a:r>
          </a:p>
          <a:p>
            <a:endParaRPr/>
          </a:p>
          <a:p>
            <a:r>
              <a:t>Business Extensions:</a:t>
            </a:r>
          </a:p>
          <a:p>
            <a:r>
              <a:t>• Multi-channel Integration: Social media, mobile app, offline data sources</a:t>
            </a:r>
          </a:p>
          <a:p>
            <a:r>
              <a:t>• Advanced Personalization: Individual-level recommendations beyond segments</a:t>
            </a:r>
          </a:p>
          <a:p>
            <a:r>
              <a:t>• Predictive Analytics: Customer lifetime value and churn prediction</a:t>
            </a:r>
          </a:p>
          <a:p>
            <a:r>
              <a:t>• Global Scalability: Multi-market and multi-language support</a:t>
            </a:r>
          </a:p>
          <a:p>
            <a:endParaRPr/>
          </a:p>
          <a:p>
            <a:r>
              <a:t>Integration Capabilities:</a:t>
            </a:r>
          </a:p>
          <a:p>
            <a:r>
              <a:t>• CRM Systems: Salesforce, HubSpot, Microsoft Dynamics integration</a:t>
            </a:r>
          </a:p>
          <a:p>
            <a:r>
              <a:t>• Marketing Automation: Mailchimp, Marketo, Pardot connectivity</a:t>
            </a:r>
          </a:p>
          <a:p>
            <a:r>
              <a:t>• Business Intelligence: Tableau, Power BI dashboard integration</a:t>
            </a:r>
          </a:p>
          <a:p>
            <a:r>
              <a:t>• Cloud Deployment: AWS, Azure, Google Cloud scalable infrastructure</a:t>
            </a:r>
          </a:p>
          <a:p>
            <a:endParaRPr/>
          </a:p>
          <a:p>
            <a:r>
              <a:t>Monitoring &amp; Maintenance:</a:t>
            </a:r>
          </a:p>
          <a:p>
            <a:r>
              <a:t>• Model Drift Detection: Automated performance monitoring</a:t>
            </a:r>
          </a:p>
          <a:p>
            <a:r>
              <a:t>• Continuous Learning: Incremental model updates with new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1F497D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t>Questions &amp; Discussion</a:t>
            </a:r>
          </a:p>
          <a:p>
            <a:endParaRPr/>
          </a:p>
          <a:p>
            <a:r>
              <a:t>Contact Information:</a:t>
            </a:r>
          </a:p>
          <a:p>
            <a:r>
              <a:t>• Team Lead: Koushik Mondal</a:t>
            </a:r>
          </a:p>
          <a:p>
            <a:r>
              <a:t>• Technical Lead: Kalyan Ghosh  </a:t>
            </a:r>
          </a:p>
          <a:p>
            <a:r>
              <a:t>• Project Supervisor: Dr. Samik Datta</a:t>
            </a:r>
          </a:p>
          <a:p>
            <a:endParaRPr/>
          </a:p>
          <a:p>
            <a:r>
              <a:t>Key Takeaways:</a:t>
            </a:r>
          </a:p>
          <a:p>
            <a:r>
              <a:t>✓ Machine learning transforms customer understanding</a:t>
            </a:r>
          </a:p>
          <a:p>
            <a:r>
              <a:t>✓ Accessible interfaces make advanced analytics practical</a:t>
            </a:r>
          </a:p>
          <a:p>
            <a:r>
              <a:t>✓ Data-driven segmentation delivers measurable business value</a:t>
            </a:r>
          </a:p>
          <a:p>
            <a:r>
              <a:t>✓ Modular architecture ensures long-term maintainability</a:t>
            </a:r>
          </a:p>
          <a:p>
            <a:endParaRPr/>
          </a:p>
          <a:p>
            <a:r>
              <a:t>Project Repository: Available for demonstration and code review</a:t>
            </a:r>
          </a:p>
          <a:p>
            <a:r>
              <a:t>Live Demo: Interactive web application ready for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1704</Words>
  <Application>Microsoft Office PowerPoint</Application>
  <PresentationFormat>Custom</PresentationFormat>
  <Paragraphs>272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Customer Personality Segmentation System using Machine Learning</vt:lpstr>
      <vt:lpstr>Project Objectives</vt:lpstr>
      <vt:lpstr>Problem Statement</vt:lpstr>
      <vt:lpstr>Solution</vt:lpstr>
      <vt:lpstr>Research Gap</vt:lpstr>
      <vt:lpstr>Literature Review</vt:lpstr>
      <vt:lpstr>PowerPoint Presentation</vt:lpstr>
      <vt:lpstr>Methodology - Data Preprocessing</vt:lpstr>
      <vt:lpstr>PowerPoint Presentation</vt:lpstr>
      <vt:lpstr>Methodology - Classification Models</vt:lpstr>
      <vt:lpstr>PowerPoint Presentation</vt:lpstr>
      <vt:lpstr>PowerPoint Presentation</vt:lpstr>
      <vt:lpstr>PowerPoint Presentation</vt:lpstr>
      <vt:lpstr>PowerPoint Presentation</vt:lpstr>
      <vt:lpstr>Marketing Strategies &amp; A/B Testing</vt:lpstr>
      <vt:lpstr>Conclusions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Koushik Mondal</cp:lastModifiedBy>
  <cp:revision>2</cp:revision>
  <dcterms:created xsi:type="dcterms:W3CDTF">2013-01-27T09:14:16Z</dcterms:created>
  <dcterms:modified xsi:type="dcterms:W3CDTF">2025-12-18T18:37:35Z</dcterms:modified>
  <cp:category/>
</cp:coreProperties>
</file>